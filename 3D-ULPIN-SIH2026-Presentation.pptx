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ULPIN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57200" y="11887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C00000"/>
                </a:solidFill>
              </a:rPr>
              <a:t>❌  Problem with Current ULPIN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169164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/>
              <a:t>•  India assigns ONE ID per land parcel — not per flat</a:t>
            </a:r>
          </a:p>
          <a:p>
            <a:pPr algn="l"/>
            <a:r>
              <a:rPr b="0" sz="1400"/>
              <a:t>•  A 20-floor building with 200 flats shares the SAME ULPIN</a:t>
            </a:r>
          </a:p>
          <a:p>
            <a:pPr algn="l"/>
            <a:r>
              <a:rPr b="0" sz="1400"/>
              <a:t>•  No volumetric/3D identity for individual units</a:t>
            </a:r>
          </a:p>
          <a:p>
            <a:pPr algn="l"/>
            <a:r>
              <a:rPr b="0" sz="1400"/>
              <a:t>•  Causes ownership disputes, registry errors &amp; taxation gaps</a:t>
            </a:r>
          </a:p>
          <a:p>
            <a:pPr algn="l"/>
            <a:r>
              <a:rPr b="0" sz="1400"/>
              <a:t>•  30M+ multi-storey units in urban India have zero 3D ID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02920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7000"/>
                </a:solidFill>
              </a:rPr>
              <a:t>✅  Our Solution: 3D-ULPIN System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029200" y="16916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/>
              <a:t>•  AI pipeline extracts building from aerial/satellite imagery</a:t>
            </a:r>
          </a:p>
          <a:p>
            <a:pPr algn="l"/>
            <a:r>
              <a:rPr b="0" sz="1400"/>
              <a:t>•  Auto-divides building floor-by-floor into unique units</a:t>
            </a:r>
          </a:p>
          <a:p>
            <a:pPr algn="l"/>
            <a:r>
              <a:rPr b="0" sz="1400"/>
              <a:t>•  Every flat gets a unique 3D ID: PARCEL-BLDG-F02-U03</a:t>
            </a:r>
          </a:p>
          <a:p>
            <a:pPr algn="l"/>
            <a:r>
              <a:rPr b="0" sz="1400"/>
              <a:t>•  Interactive web-based 3D map for visual exploration</a:t>
            </a:r>
          </a:p>
          <a:p>
            <a:pPr algn="l"/>
            <a:r>
              <a:rPr b="0" sz="1400"/>
              <a:t>•  Works on existing satellite data — no new hardware needed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365760" y="393192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 i="1">
                <a:solidFill>
                  <a:srgbClr val="7F7F7F"/>
                </a:solidFill>
              </a:rPr>
              <a:t>[ Paste Napkin.ai comparison diagram here — 2D ULPIN vs 3D-ULPIN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ULPIN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5720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467F"/>
                </a:solidFill>
              </a:rPr>
              <a:t>AI Pipeline  →  Backend API  →  3D Visualization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70C0"/>
                </a:solidFill>
              </a:rPr>
              <a:t>🤖  AI Pipeline (Python)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19202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1️⃣  Aerial Image + Parcel Boundary (GeoJSON Input)</a:t>
            </a:r>
          </a:p>
          <a:p>
            <a:pPr algn="l"/>
            <a:r>
              <a:rPr b="0" sz="1300"/>
              <a:t>2️⃣  Building Footprint Detection  (OpenCV + Shapely)</a:t>
            </a:r>
          </a:p>
          <a:p>
            <a:pPr algn="l"/>
            <a:r>
              <a:rPr b="0" sz="1300"/>
              <a:t>3️⃣  3D Extrusion from height_meters data</a:t>
            </a:r>
          </a:p>
          <a:p>
            <a:pPr algn="l"/>
            <a:r>
              <a:rPr b="0" sz="1300"/>
              <a:t>4️⃣  Floor-wise Division using floor_count</a:t>
            </a:r>
          </a:p>
          <a:p>
            <a:pPr algn="l"/>
            <a:r>
              <a:rPr b="0" sz="1300"/>
              <a:t>5️⃣  Unique ULPIN Generation per unit</a:t>
            </a:r>
          </a:p>
          <a:p>
            <a:pPr algn="l"/>
            <a:r>
              <a:rPr b="0" sz="1300"/>
              <a:t>6️⃣  Spatial Validation (overlap &amp; boundary check)</a:t>
            </a:r>
          </a:p>
          <a:p>
            <a:pPr algn="l"/>
            <a:r>
              <a:rPr b="0" sz="1300"/>
              <a:t>7️⃣  AI Vision: Google Gemini 3 Flash (fallback: Groq → HuggingFace)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4805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70C0"/>
                </a:solidFill>
              </a:rPr>
              <a:t>⚙️  Backend (FastAPI)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480560" y="19202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•  POST /api/buildings/create</a:t>
            </a:r>
          </a:p>
          <a:p>
            <a:pPr algn="l"/>
            <a:r>
              <a:rPr b="0" sz="1300"/>
              <a:t>•  GET  /api/buildings/{id}</a:t>
            </a:r>
          </a:p>
          <a:p>
            <a:pPr algn="l"/>
            <a:r>
              <a:rPr b="0" sz="1300"/>
              <a:t>•  GET  /api/buildings/{id}/units</a:t>
            </a:r>
          </a:p>
          <a:p>
            <a:pPr algn="l"/>
            <a:r>
              <a:rPr b="0" sz="1300"/>
              <a:t>•  GET  /api/validation/{id}</a:t>
            </a:r>
          </a:p>
          <a:p>
            <a:pPr algn="l"/>
            <a:r>
              <a:rPr b="0" sz="1300"/>
              <a:t>•  PostgreSQL + PostGIS DB</a:t>
            </a:r>
          </a:p>
          <a:p>
            <a:pPr algn="l"/>
            <a:r>
              <a:rPr b="0" sz="1300"/>
              <a:t>•  Multi-provider AI fallback system</a:t>
            </a:r>
          </a:p>
          <a:p>
            <a:pPr algn="l"/>
            <a:r>
              <a:rPr b="0" sz="1300"/>
              <a:t>•  Deployed on Render.com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58952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70C0"/>
                </a:solidFill>
              </a:rPr>
              <a:t>🗺️  Frontend (React)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589520" y="19202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•  React + TypeScript</a:t>
            </a:r>
          </a:p>
          <a:p>
            <a:pPr algn="l"/>
            <a:r>
              <a:rPr b="0" sz="1300"/>
              <a:t>•  deck.gl 3D Map Layer</a:t>
            </a:r>
          </a:p>
          <a:p>
            <a:pPr algn="l"/>
            <a:r>
              <a:rPr b="0" sz="1300"/>
              <a:t>•  Three.js building renders</a:t>
            </a:r>
          </a:p>
          <a:p>
            <a:pPr algn="l"/>
            <a:r>
              <a:rPr b="0" sz="1300"/>
              <a:t>•  Floor-by-floor animation</a:t>
            </a:r>
          </a:p>
          <a:p>
            <a:pPr algn="l"/>
            <a:r>
              <a:rPr b="0" sz="1300"/>
              <a:t>•  Underground panel view</a:t>
            </a:r>
          </a:p>
          <a:p>
            <a:pPr algn="l"/>
            <a:r>
              <a:rPr b="0" sz="1300"/>
              <a:t>•  ULPIN display on click</a:t>
            </a:r>
          </a:p>
          <a:p>
            <a:pPr algn="l"/>
            <a:r>
              <a:rPr b="0" sz="1300"/>
              <a:t>•  Deployed on Vercel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467F"/>
                </a:solidFill>
              </a:rPr>
              <a:t>🛠  Tech Stack</a:t>
            </a:r>
          </a:p>
        </p:txBody>
      </p:sp>
      <p:graphicFrame>
        <p:nvGraphicFramePr>
          <p:cNvPr id="17419" name="Table 17418"/>
          <p:cNvGraphicFramePr>
            <a:graphicFrameLocks noGrp="1"/>
          </p:cNvGraphicFramePr>
          <p:nvPr/>
        </p:nvGraphicFramePr>
        <p:xfrm>
          <a:off x="457200" y="4297680"/>
          <a:ext cx="100584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AI / Vision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Python · OpenCV · Shapely · Gemini Flash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Footprint detection, ULPIN generation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FastAPI · PostgreSQL · PostGIS · Pydantic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Data storage, validation, REST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Frontend / 3D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React · deck.gl · Three.js · TypeScript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3D map rendering, unit selection UI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Render.com (backend) · Vercel (frontend)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Cloud hosting,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ULPIN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5720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7000"/>
                </a:solidFill>
              </a:rPr>
              <a:t>✅  Technical Feasibility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4630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•  Working MVP already deployed (Render + Vercel)</a:t>
            </a:r>
          </a:p>
          <a:p>
            <a:pPr algn="l"/>
            <a:r>
              <a:rPr b="0" sz="1300"/>
              <a:t>•  All tech is open-source and production-ready</a:t>
            </a:r>
          </a:p>
          <a:p>
            <a:pPr algn="l"/>
            <a:r>
              <a:rPr b="0" sz="1300"/>
              <a:t>•  Gemini API with free tier for prototyping; Groq + HuggingFace fallback</a:t>
            </a:r>
          </a:p>
          <a:p>
            <a:pPr algn="l"/>
            <a:r>
              <a:rPr b="0" sz="1300"/>
              <a:t>•  PostGIS: industry standard for spatial data (used by ISRO, NIC)</a:t>
            </a:r>
          </a:p>
          <a:p>
            <a:pPr algn="l"/>
            <a:r>
              <a:rPr b="0" sz="1300"/>
              <a:t>•  Stateless microservices — horizontally scalable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467F"/>
                </a:solidFill>
              </a:rPr>
              <a:t>📦  Resource Requirements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457200" y="3611880"/>
          <a:ext cx="4937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Resource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Satellite Imagery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ISRO Bhuvan / Google Maps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✅ Available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Render.com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✅ Deployed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Database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PostgreSQL + PostGIS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✅ Running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AI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Gemini 3 Flash / Groq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✅ Integrated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5" name="TextBox 17414"/>
          <p:cNvSpPr txBox="1"/>
          <p:nvPr/>
        </p:nvSpPr>
        <p:spPr>
          <a:xfrm>
            <a:off x="5669280" y="1051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C05000"/>
                </a:solidFill>
              </a:rPr>
              <a:t>⚠️  Risk Mitigation</a:t>
            </a:r>
          </a:p>
        </p:txBody>
      </p:sp>
      <p:graphicFrame>
        <p:nvGraphicFramePr>
          <p:cNvPr id="17416" name="Table 17415"/>
          <p:cNvGraphicFramePr>
            <a:graphicFrameLocks noGrp="1"/>
          </p:cNvGraphicFramePr>
          <p:nvPr/>
        </p:nvGraphicFramePr>
        <p:xfrm>
          <a:off x="5669280" y="146304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C05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Mitigation Strategy</a:t>
                      </a:r>
                    </a:p>
                  </a:txBody>
                  <a:tcPr>
                    <a:solidFill>
                      <a:srgbClr val="C05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Low satellite image quality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Multi-model AI fallback chain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Missing building height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AI estimation from shadow/OSM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API rate limits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In-memory cache + provider rotation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Scalability under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Async FastAPI + stateless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Data accuracy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Spatial validation layer built-in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</a:tbl>
          </a:graphicData>
        </a:graphic>
      </p:graphicFrame>
      <p:sp>
        <p:nvSpPr>
          <p:cNvPr id="17417" name="TextBox 17416"/>
          <p:cNvSpPr txBox="1"/>
          <p:nvPr/>
        </p:nvSpPr>
        <p:spPr>
          <a:xfrm>
            <a:off x="566928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7000"/>
                </a:solidFill>
              </a:rPr>
              <a:t>💰  Economic Feasibility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669280" y="361188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•  Cost per building processed: ~₹0.02 (API calls only)</a:t>
            </a:r>
          </a:p>
          <a:p>
            <a:pPr algn="l"/>
            <a:r>
              <a:rPr b="0" sz="1300"/>
              <a:t>•  Can process 50,000+ buildings/day on standard infra</a:t>
            </a:r>
          </a:p>
          <a:p>
            <a:pPr algn="l"/>
            <a:r>
              <a:rPr b="0" sz="1300"/>
              <a:t>•  Deployable as SaaS or government on-prem solution</a:t>
            </a:r>
          </a:p>
          <a:p>
            <a:pPr algn="l"/>
            <a:r>
              <a:rPr b="0" sz="1300"/>
              <a:t>•  Zero licensing cost — fully open-source stack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ULPIN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57200" y="1051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67F"/>
                </a:solidFill>
              </a:rPr>
              <a:t>🎯  Who Benefits from 3D-ULPIN?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70C0"/>
                </a:solidFill>
              </a:rPr>
              <a:t>🏠  Citizens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190195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/>
              <a:t>Unique 3D flat ID for registry, loans &amp; dispute resolution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70C0"/>
                </a:solidFill>
              </a:rPr>
              <a:t>🏛️  Government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840480" y="190195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/>
              <a:t>Floor-wise tax collection, accurate digital land records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31520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70C0"/>
                </a:solidFill>
              </a:rPr>
              <a:t>🏦  Banks / Fintech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315200" y="190195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/>
              <a:t>Verified 3D collateral for home loans &amp; insurance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6576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70C0"/>
                </a:solidFill>
              </a:rPr>
              <a:t>🏗️  Urban Planners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65760" y="313639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/>
              <a:t>Volumetric data for smart city &amp; digital twin planning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84048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70C0"/>
                </a:solidFill>
              </a:rPr>
              <a:t>⚖️  Courts / Judiciary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840480" y="313639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/>
              <a:t>Spatial proof to resolve property boundary disputes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572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467F"/>
                </a:solidFill>
              </a:rPr>
              <a:t>📊  Scale of Impact</a:t>
            </a:r>
          </a:p>
        </p:txBody>
      </p:sp>
      <p:graphicFrame>
        <p:nvGraphicFramePr>
          <p:cNvPr id="17423" name="Table 17422"/>
          <p:cNvGraphicFramePr>
            <a:graphicFrameLocks noGrp="1"/>
          </p:cNvGraphicFramePr>
          <p:nvPr/>
        </p:nvGraphicFramePr>
        <p:xfrm>
          <a:off x="457200" y="3749039"/>
          <a:ext cx="5943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Urban population in India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500+ Million people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Multi-storey units without 3D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30+ Million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Indian property market size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₹3 Lakh Crore+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Potential buildings processable/day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50,000+ (cloud infra)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4" name="TextBox 17423"/>
          <p:cNvSpPr txBox="1"/>
          <p:nvPr/>
        </p:nvSpPr>
        <p:spPr>
          <a:xfrm>
            <a:off x="6583680" y="3383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6400"/>
                </a:solidFill>
              </a:rPr>
              <a:t>🇮🇳  Govt Scheme Alignment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583680" y="3749039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•  PM SVAMITVA Scheme</a:t>
            </a:r>
          </a:p>
          <a:p>
            <a:pPr algn="l"/>
            <a:r>
              <a:rPr b="0" sz="1300"/>
              <a:t>•  Smart Cities Mission</a:t>
            </a:r>
          </a:p>
          <a:p>
            <a:pPr algn="l"/>
            <a:r>
              <a:rPr b="0" sz="1300"/>
              <a:t>•  DILRMP — Digital India Land Records</a:t>
            </a:r>
          </a:p>
          <a:p>
            <a:pPr algn="l"/>
            <a:r>
              <a:rPr b="0" sz="1300"/>
              <a:t>•  National Urban Policy 2023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ULPIN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572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467F"/>
                </a:solidFill>
              </a:rPr>
              <a:t>📚  Academic References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41732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/>
              <a:t>[1]  '3D Cadastre for Urban Land Management'</a:t>
            </a:r>
          </a:p>
          <a:p>
            <a:pPr algn="l"/>
            <a:r>
              <a:rPr b="0" sz="1200"/>
              <a:t>     FIG Working Week 2022, FIG Congress</a:t>
            </a:r>
          </a:p>
          <a:p>
            <a:pPr algn="l"/>
            <a:r>
              <a:rPr b="1" sz="1300"/>
              <a:t>[2]  'Building Extraction from Satellite Imagery using Deep Learning'</a:t>
            </a:r>
          </a:p>
          <a:p>
            <a:pPr algn="l"/>
            <a:r>
              <a:rPr b="0" sz="1200"/>
              <a:t>     ISPRS Journal of Photogrammetry, 2021</a:t>
            </a:r>
          </a:p>
          <a:p>
            <a:pPr algn="l"/>
            <a:r>
              <a:rPr b="1" sz="1300"/>
              <a:t>[3]  CityGML 3.0 — OGC Standard for 3D City Models</a:t>
            </a:r>
          </a:p>
          <a:p>
            <a:pPr algn="l"/>
            <a:r>
              <a:rPr b="0" sz="1200"/>
              <a:t>     Open Geospatial Consortium, 2021</a:t>
            </a:r>
          </a:p>
          <a:p>
            <a:pPr algn="l"/>
            <a:r>
              <a:rPr b="1" sz="1300"/>
              <a:t>[4]  'ULPIN System for Unique Land Parcel ID'</a:t>
            </a:r>
          </a:p>
          <a:p>
            <a:pPr algn="l"/>
            <a:r>
              <a:rPr b="0" sz="1200"/>
              <a:t>     DILRMP Technical Report, Ministry of Rural Development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0" y="1005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467F"/>
                </a:solidFill>
              </a:rPr>
              <a:t>🏛️  Government Sources &amp; Datasets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943600" y="141732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/>
              <a:t>•  DILRMP Portal — NIC, Govt of India</a:t>
            </a:r>
          </a:p>
          <a:p>
            <a:pPr algn="l"/>
            <a:r>
              <a:rPr b="0" sz="1300"/>
              <a:t>•  ISRO Bhuvan — Satellite Imagery Dataset</a:t>
            </a:r>
          </a:p>
          <a:p>
            <a:pPr algn="l"/>
            <a:r>
              <a:rPr b="0" sz="1300"/>
              <a:t>•  Survey of India — GIS Data</a:t>
            </a:r>
          </a:p>
          <a:p>
            <a:pPr algn="l"/>
            <a:r>
              <a:rPr b="0" sz="1300"/>
              <a:t>•  MoHUA Smart City Framework</a:t>
            </a:r>
          </a:p>
          <a:p>
            <a:pPr algn="l"/>
            <a:r>
              <a:rPr b="0" sz="1300"/>
              <a:t>•  OpenStreetMap — Building Footprint Data</a:t>
            </a:r>
          </a:p>
          <a:p>
            <a:pPr algn="l"/>
            <a:r>
              <a:rPr b="0" sz="1300"/>
              <a:t>•  Google Maps Platform — Aerial Imagery API</a:t>
            </a:r>
          </a:p>
          <a:p>
            <a:pPr algn="l"/>
            <a:r>
              <a:rPr b="0" sz="1300"/>
              <a:t>•  SVAMITVA Scheme Data — PM Gati Shakti Portal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3566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467F"/>
                </a:solidFill>
              </a:rPr>
              <a:t>🆚  Benchmarked Against Existing Solutions</a:t>
            </a:r>
          </a:p>
        </p:txBody>
      </p:sp>
      <p:graphicFrame>
        <p:nvGraphicFramePr>
          <p:cNvPr id="17416" name="Table 17415"/>
          <p:cNvGraphicFramePr>
            <a:graphicFrameLocks noGrp="1"/>
          </p:cNvGraphicFramePr>
          <p:nvPr/>
        </p:nvGraphicFramePr>
        <p:xfrm>
          <a:off x="457200" y="3977639"/>
          <a:ext cx="10058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Our Edge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ESRI ArcGIS 3D Analyst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Costly, not AI-driven, no auto-extraction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Free &amp; automated via AI pipeline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CityGML Viewers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No automated ID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Auto ULPIN per unit from imagery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Google Earth Engine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No unit-level property ID system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3D ULPIN + web interactive map</a:t>
                      </a:r>
                    </a:p>
                  </a:txBody>
                  <a:tcPr>
                    <a:solidFill>
                      <a:srgbClr val="D9EB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Current ULPIN (DILRMP)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2D only, manual registry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Full 3D spatial identity, AI-first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